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0"/>
  </p:notesMasterIdLst>
  <p:handoutMasterIdLst>
    <p:handoutMasterId r:id="rId11"/>
  </p:handoutMasterIdLst>
  <p:sldIdLst>
    <p:sldId id="335" r:id="rId5"/>
    <p:sldId id="343" r:id="rId6"/>
    <p:sldId id="348" r:id="rId7"/>
    <p:sldId id="347" r:id="rId8"/>
    <p:sldId id="352" r:id="rId9"/>
  </p:sldIdLst>
  <p:sldSz cx="12192000" cy="6858000"/>
  <p:notesSz cx="6858000" cy="9144000"/>
  <p:defaultTextStyle>
    <a:defPPr rtl="0"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4" autoAdjust="0"/>
    <p:restoredTop sz="95226" autoAdjust="0"/>
  </p:normalViewPr>
  <p:slideViewPr>
    <p:cSldViewPr snapToGrid="0">
      <p:cViewPr varScale="1">
        <p:scale>
          <a:sx n="105" d="100"/>
          <a:sy n="105" d="100"/>
        </p:scale>
        <p:origin x="600" y="114"/>
      </p:cViewPr>
      <p:guideLst>
        <p:guide orient="horz" pos="3672"/>
        <p:guide pos="3840"/>
      </p:guideLst>
    </p:cSldViewPr>
  </p:slideViewPr>
  <p:outlineViewPr>
    <p:cViewPr>
      <p:scale>
        <a:sx n="33" d="100"/>
        <a:sy n="33" d="100"/>
      </p:scale>
      <p:origin x="0" y="-1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68808CA8-1C57-4825-9CF6-733F603842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A6F0140-94A2-4120-81D6-2AEE874E0F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F9D11-1BD8-4DAC-8717-DECEEF42C336}" type="datetime1">
              <a:rPr lang="nl-NL" smtClean="0"/>
              <a:t>10-5-2026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8C9B02B-A114-434F-BCC1-D13C140847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26B3B3B-5897-45CD-87D4-CF61D4EBF7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5D8CC-9593-4CF5-96D8-B5E39234200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52546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nl-NL" noProof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F7154-691C-45C0-BC75-5347DF9E6A98}" type="datetime1">
              <a:rPr lang="nl-NL" smtClean="0"/>
              <a:pPr/>
              <a:t>10-5-2026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nl-NL" noProof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nl-NL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nl-NL" noProof="0" smtClean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01357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0363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67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2819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4468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2E31DFB3-42E8-9540-92FB-4AE3F420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1"/>
            <a:ext cx="11158847" cy="58248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nl-NL" noProof="0"/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F13C1B90-0A14-7B4B-B05B-357A6A88291E}"/>
              </a:ext>
            </a:extLst>
          </p:cNvPr>
          <p:cNvCxnSpPr>
            <a:cxnSpLocks/>
          </p:cNvCxnSpPr>
          <p:nvPr userDrawn="1"/>
        </p:nvCxnSpPr>
        <p:spPr>
          <a:xfrm>
            <a:off x="1036261" y="4159793"/>
            <a:ext cx="10122586" cy="0"/>
          </a:xfrm>
          <a:prstGeom prst="line">
            <a:avLst/>
          </a:prstGeom>
          <a:ln w="1270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ijdelijke aanduiding voor inhoud 10">
            <a:extLst>
              <a:ext uri="{FF2B5EF4-FFF2-40B4-BE49-F238E27FC236}">
                <a16:creationId xmlns:a16="http://schemas.microsoft.com/office/drawing/2014/main" id="{90097E88-8912-8A4F-9D00-BDA132434F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033153" y="4728131"/>
            <a:ext cx="7806047" cy="281164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58E2CE6-6A25-40B9-BD31-82C7507389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6313" y="1656344"/>
            <a:ext cx="7805737" cy="2113466"/>
          </a:xfrm>
          <a:prstGeom prst="rect">
            <a:avLst/>
          </a:prstGeo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nl-NL" noProof="0"/>
              <a:t>Klik om te bewerken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E7687ADE-BAA9-634F-96B8-ACF4EE9BD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nl-NL" noProof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2286000"/>
            <a:ext cx="7810499" cy="290453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00000"/>
              </a:lnSpc>
              <a:buNone/>
              <a:defRPr sz="2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BBEC4E73-6A9F-2F46-89D1-559CE56C12BE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el 1">
            <a:extLst>
              <a:ext uri="{FF2B5EF4-FFF2-40B4-BE49-F238E27FC236}">
                <a16:creationId xmlns:a16="http://schemas.microsoft.com/office/drawing/2014/main" id="{88BFD865-74BB-5B40-8DA8-7D7B921A75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nl-NL" noProof="0"/>
              <a:t>Klik om te bewerken</a:t>
            </a:r>
          </a:p>
        </p:txBody>
      </p:sp>
      <p:sp>
        <p:nvSpPr>
          <p:cNvPr id="9" name="Tijdelijke aanduiding voor datum 8">
            <a:extLst>
              <a:ext uri="{FF2B5EF4-FFF2-40B4-BE49-F238E27FC236}">
                <a16:creationId xmlns:a16="http://schemas.microsoft.com/office/drawing/2014/main" id="{5A4B708A-874B-4F75-A235-6908EB43FA8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nl-NL" noProof="0"/>
              <a:t>3 september 20XX </a:t>
            </a:r>
          </a:p>
        </p:txBody>
      </p:sp>
      <p:sp>
        <p:nvSpPr>
          <p:cNvPr id="13" name="Tijdelijke aanduiding voor voettekst 12">
            <a:extLst>
              <a:ext uri="{FF2B5EF4-FFF2-40B4-BE49-F238E27FC236}">
                <a16:creationId xmlns:a16="http://schemas.microsoft.com/office/drawing/2014/main" id="{71D589B3-67A1-4B39-9EEF-2FB7AB10EC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nl-NL" noProof="0">
                <a:solidFill>
                  <a:schemeClr val="bg1"/>
                </a:solidFill>
              </a:rPr>
              <a:t>Jaarverslag</a:t>
            </a:r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F5D91E6B-55B5-4092-AD3B-F7E1FD0045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71163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lei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48768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nl-NL" noProof="0"/>
              <a:t>Klik om te bewerken</a:t>
            </a:r>
          </a:p>
        </p:txBody>
      </p:sp>
      <p:sp>
        <p:nvSpPr>
          <p:cNvPr id="25" name="Tijdelijke aanduiding voor inhoud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28700" y="2286003"/>
            <a:ext cx="4876800" cy="3568696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54824" y="990600"/>
            <a:ext cx="4837176" cy="4837176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nl-NL" noProof="0"/>
              <a:t>Klik op het pictogram als u een afbeelding wilt toevoegen</a:t>
            </a:r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AAE1D3B9-B2D1-4927-BE44-8408FBD84C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nl-NL" noProof="0"/>
              <a:t>3 september 20XX 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67447116-BCE7-456E-88B8-96ADC76E5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nl-NL" noProof="0">
                <a:solidFill>
                  <a:schemeClr val="bg1"/>
                </a:solidFill>
              </a:rPr>
              <a:t>Jaarverslag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D03B6347-A35F-4216-9988-7393E598E1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42601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-ei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FD808B2-C5CA-FE45-B556-461D856BF7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nl-NL" noProof="0"/>
              <a:t>Klik op het pictogram als u een afbeelding wilt toevoegen</a:t>
            </a: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4425CA9F-967F-1545-8E32-09F4DB0F04F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4475" y="1862667"/>
            <a:ext cx="10103049" cy="867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69DD4EBD-237B-7245-A9C2-A37674E23E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nl-NL" noProof="0"/>
              <a:t>Klik om te bewerken</a:t>
            </a:r>
          </a:p>
        </p:txBody>
      </p:sp>
    </p:spTree>
    <p:extLst>
      <p:ext uri="{BB962C8B-B14F-4D97-AF65-F5344CB8AC3E}">
        <p14:creationId xmlns:p14="http://schemas.microsoft.com/office/powerpoint/2010/main" val="2681577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BBA6D65B-10A2-D743-9FFA-D14B8696F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nl-NL" noProof="0"/>
          </a:p>
        </p:txBody>
      </p:sp>
      <p:sp>
        <p:nvSpPr>
          <p:cNvPr id="10" name="Tijdelijke aanduiding voor grafiek 3">
            <a:extLst>
              <a:ext uri="{FF2B5EF4-FFF2-40B4-BE49-F238E27FC236}">
                <a16:creationId xmlns:a16="http://schemas.microsoft.com/office/drawing/2014/main" id="{FCB9F5CF-0F1D-284B-B997-AC308FED47B9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951345" y="2286000"/>
            <a:ext cx="9145155" cy="3164926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nl-NL" noProof="0"/>
              <a:t>Klik op pictogram om grafiek toe te voegen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5652B48-7CDD-5645-B29B-54727CA5F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nl-NL" noProof="0"/>
              <a:t>Klik om te bewerken</a:t>
            </a:r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0C0F4C76-2690-7448-8D03-9692C2BB101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A1C09B5-CD25-4B65-9120-D8EBD79ABC8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nl-NL" noProof="0"/>
              <a:t>3 september 20XX 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C6281DE-BBF4-4AA1-B110-DC418232A01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nl-NL" noProof="0">
                <a:solidFill>
                  <a:schemeClr val="bg1"/>
                </a:solidFill>
              </a:rPr>
              <a:t>Jaarverslag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839333A-6926-414D-9C9D-B62395A38A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653965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1855E5B9-5A63-2D46-8653-3FD1F538F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4453"/>
            <a:ext cx="11158847" cy="58248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nl-NL" noProof="0"/>
          </a:p>
        </p:txBody>
      </p:sp>
      <p:sp>
        <p:nvSpPr>
          <p:cNvPr id="3" name="Tijdelijke aanduiding voor tabel 2">
            <a:extLst>
              <a:ext uri="{FF2B5EF4-FFF2-40B4-BE49-F238E27FC236}">
                <a16:creationId xmlns:a16="http://schemas.microsoft.com/office/drawing/2014/main" id="{03FB492B-801F-1741-BD1B-89F9C6BFF0EC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1028700" y="2423161"/>
            <a:ext cx="9067800" cy="222740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nl-NL" noProof="0"/>
              <a:t>Klik op pictogram om tabel toe te voegen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774545B3-0290-D848-BDB5-811BC52BD4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10096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nl-NL" noProof="0"/>
              <a:t>Klik om te bewerken</a:t>
            </a:r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03709460-09E4-854A-889B-491A934DE40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0F749A19-BE29-4599-ABBE-E7C61FF9EE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nl-NL" noProof="0"/>
              <a:t>3 september 20XX 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8F30C11-6611-47E2-9CF7-8EE77F4CD1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nl-NL" noProof="0">
                <a:solidFill>
                  <a:schemeClr val="bg1"/>
                </a:solidFill>
              </a:rPr>
              <a:t>Jaarverslag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5AF710E8-4CE9-4D79-8121-DD559D321E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413503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36A99595-F780-594B-8C36-E4E5AF5E1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nl-NL" noProof="0"/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04AFB169-81B7-454B-BE19-407333C86F3B}"/>
              </a:ext>
            </a:extLst>
          </p:cNvPr>
          <p:cNvCxnSpPr>
            <a:cxnSpLocks/>
          </p:cNvCxnSpPr>
          <p:nvPr userDrawn="1"/>
        </p:nvCxnSpPr>
        <p:spPr>
          <a:xfrm>
            <a:off x="2184935" y="1874704"/>
            <a:ext cx="897391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2304344"/>
            <a:ext cx="7810500" cy="2989263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5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A06611-233D-45FA-A146-AB9D4F4A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525" y="978781"/>
            <a:ext cx="1589372" cy="1325563"/>
          </a:xfrm>
          <a:prstGeom prst="rect">
            <a:avLst/>
          </a:prstGeom>
        </p:spPr>
        <p:txBody>
          <a:bodyPr rtlCol="0"/>
          <a:lstStyle>
            <a:lvl1pPr>
              <a:defRPr sz="20000"/>
            </a:lvl1pPr>
          </a:lstStyle>
          <a:p>
            <a:pPr rtl="0"/>
            <a:r>
              <a:rPr lang="nl-NL" noProof="0"/>
              <a:t>“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94887C6-2D97-4388-AA65-CEEA6591BF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nl-NL" noProof="0"/>
              <a:t>3 september 20XX 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3F84EFA-1D77-40D3-B5AC-6652DC26F0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nl-NL" noProof="0">
                <a:solidFill>
                  <a:schemeClr val="bg1"/>
                </a:solidFill>
              </a:rPr>
              <a:t>Jaarverslag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13CA07C-1BC2-4B16-8557-27C373CFCE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226144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Rechte verbindingslijn 28">
            <a:extLst>
              <a:ext uri="{FF2B5EF4-FFF2-40B4-BE49-F238E27FC236}">
                <a16:creationId xmlns:a16="http://schemas.microsoft.com/office/drawing/2014/main" id="{EFAD8BFA-14F6-F54A-AB64-29F9F7616A7D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4640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5B9E731-6B9B-024E-9360-F9F34CC663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4313437"/>
            <a:ext cx="1828800" cy="40122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30" name="Tijdelijke aanduiding voor tekst 4">
            <a:extLst>
              <a:ext uri="{FF2B5EF4-FFF2-40B4-BE49-F238E27FC236}">
                <a16:creationId xmlns:a16="http://schemas.microsoft.com/office/drawing/2014/main" id="{FD3D9C96-2F42-E545-BD97-AC8568E2F4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8700" y="4752757"/>
            <a:ext cx="1828800" cy="55245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31" name="Tijdelijke aanduiding voor tekst 4">
            <a:extLst>
              <a:ext uri="{FF2B5EF4-FFF2-40B4-BE49-F238E27FC236}">
                <a16:creationId xmlns:a16="http://schemas.microsoft.com/office/drawing/2014/main" id="{892AA37C-BA0F-9C4F-B098-EDFE391C4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84600" y="4332486"/>
            <a:ext cx="1828800" cy="40122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32" name="Tijdelijke aanduiding voor tekst 4">
            <a:extLst>
              <a:ext uri="{FF2B5EF4-FFF2-40B4-BE49-F238E27FC236}">
                <a16:creationId xmlns:a16="http://schemas.microsoft.com/office/drawing/2014/main" id="{EEAAAC92-F1DA-6847-8D56-1ACCD5E3B0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84600" y="4752757"/>
            <a:ext cx="1828800" cy="55245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33" name="Tijdelijke aanduiding voor tekst 4">
            <a:extLst>
              <a:ext uri="{FF2B5EF4-FFF2-40B4-BE49-F238E27FC236}">
                <a16:creationId xmlns:a16="http://schemas.microsoft.com/office/drawing/2014/main" id="{F4E4153D-E2B3-7D4A-8D92-FF6597B2FB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31512" y="4313436"/>
            <a:ext cx="1828800" cy="42027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34" name="Tijdelijke aanduiding voor tekst 4">
            <a:extLst>
              <a:ext uri="{FF2B5EF4-FFF2-40B4-BE49-F238E27FC236}">
                <a16:creationId xmlns:a16="http://schemas.microsoft.com/office/drawing/2014/main" id="{0D6B703A-5BF6-744F-A3D3-C65E3F8B3B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1512" y="4752757"/>
            <a:ext cx="1828800" cy="55245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35" name="Tijdelijke aanduiding voor tekst 4">
            <a:extLst>
              <a:ext uri="{FF2B5EF4-FFF2-40B4-BE49-F238E27FC236}">
                <a16:creationId xmlns:a16="http://schemas.microsoft.com/office/drawing/2014/main" id="{982A9FE5-981A-B340-B8F8-D2DB83C196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296400" y="4332486"/>
            <a:ext cx="1828800" cy="42027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36" name="Tijdelijke aanduiding voor tekst 4">
            <a:extLst>
              <a:ext uri="{FF2B5EF4-FFF2-40B4-BE49-F238E27FC236}">
                <a16:creationId xmlns:a16="http://schemas.microsoft.com/office/drawing/2014/main" id="{594B2391-B4C8-5542-8285-39BAD874EC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96400" y="4752757"/>
            <a:ext cx="1828800" cy="55245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37" name="Tijdelijke aanduiding voor afbeelding 25">
            <a:extLst>
              <a:ext uri="{FF2B5EF4-FFF2-40B4-BE49-F238E27FC236}">
                <a16:creationId xmlns:a16="http://schemas.microsoft.com/office/drawing/2014/main" id="{A2D87BC1-884E-CD4E-BABF-B7AF4DF7869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8700" y="2308936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38" name="Tijdelijke aanduiding voor afbeelding 25">
            <a:extLst>
              <a:ext uri="{FF2B5EF4-FFF2-40B4-BE49-F238E27FC236}">
                <a16:creationId xmlns:a16="http://schemas.microsoft.com/office/drawing/2014/main" id="{DB0763B3-E65F-8A47-AA7C-C9A56C50600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784600" y="2308936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39" name="Tijdelijke aanduiding voor afbeelding 25">
            <a:extLst>
              <a:ext uri="{FF2B5EF4-FFF2-40B4-BE49-F238E27FC236}">
                <a16:creationId xmlns:a16="http://schemas.microsoft.com/office/drawing/2014/main" id="{1E0F47CF-6DE7-F745-B9D8-55421009AF4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40500" y="2308936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40" name="Tijdelijke aanduiding voor afbeelding 25">
            <a:extLst>
              <a:ext uri="{FF2B5EF4-FFF2-40B4-BE49-F238E27FC236}">
                <a16:creationId xmlns:a16="http://schemas.microsoft.com/office/drawing/2014/main" id="{B4621956-6AB4-E346-8900-9AE2A51ADBC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296400" y="2314278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nl-NL" noProof="0"/>
              <a:t>Klik op pictogram om afbeelding toe te voegen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3B64062A-6292-0441-95CB-9A91F49DBA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nl-NL" noProof="0"/>
              <a:t>Klik om te bewerken</a:t>
            </a:r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383883EC-FACE-4093-9976-8B0D4C8BEBC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 rtlCol="0"/>
          <a:lstStyle/>
          <a:p>
            <a:pPr rtl="0"/>
            <a:r>
              <a:rPr lang="nl-NL" noProof="0"/>
              <a:t>3 september 20XX 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E2611EE2-9C8D-405E-9ABF-8EFD1E1D6BB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 rtlCol="0"/>
          <a:lstStyle/>
          <a:p>
            <a:pPr rtl="0"/>
            <a:r>
              <a:rPr lang="nl-NL" noProof="0">
                <a:solidFill>
                  <a:schemeClr val="bg1"/>
                </a:solidFill>
              </a:rPr>
              <a:t>Jaarverslag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EFE126EB-13BB-4830-A999-3778C11747A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023963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 userDrawn="1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8" orient="horz" pos="3072" userDrawn="1">
          <p15:clr>
            <a:srgbClr val="FBAE40"/>
          </p15:clr>
        </p15:guide>
        <p15:guide id="13" pos="6384" userDrawn="1">
          <p15:clr>
            <a:srgbClr val="FBAE40"/>
          </p15:clr>
        </p15:guide>
        <p15:guide id="14" orient="horz" pos="32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jdlij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el 1">
            <a:extLst>
              <a:ext uri="{FF2B5EF4-FFF2-40B4-BE49-F238E27FC236}">
                <a16:creationId xmlns:a16="http://schemas.microsoft.com/office/drawing/2014/main" id="{A116A2E3-682D-BD4F-9FC9-4546B0C9A1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nl-NL" noProof="0"/>
              <a:t>Klik om te bewerken</a:t>
            </a:r>
          </a:p>
        </p:txBody>
      </p: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ED64AC08-85A6-6F44-88B4-3FAE91B70C1B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D1056DE-470B-C64D-99AE-5039A021EC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616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37" name="Tijdelijke aanduiding voor tekst 4">
            <a:extLst>
              <a:ext uri="{FF2B5EF4-FFF2-40B4-BE49-F238E27FC236}">
                <a16:creationId xmlns:a16="http://schemas.microsoft.com/office/drawing/2014/main" id="{4ADA9C53-0DC4-4D43-B80C-9B0A9E0EBD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6672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38" name="Tijdelijke aanduiding voor tekst 4">
            <a:extLst>
              <a:ext uri="{FF2B5EF4-FFF2-40B4-BE49-F238E27FC236}">
                <a16:creationId xmlns:a16="http://schemas.microsoft.com/office/drawing/2014/main" id="{F8E68047-DF25-AB45-A0F0-F4DFE23516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6672" y="3336211"/>
            <a:ext cx="2286000" cy="2490992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41" name="Tijdelijke aanduiding voor tekst 4">
            <a:extLst>
              <a:ext uri="{FF2B5EF4-FFF2-40B4-BE49-F238E27FC236}">
                <a16:creationId xmlns:a16="http://schemas.microsoft.com/office/drawing/2014/main" id="{61DB1B27-14E7-1549-BDAA-6DD31A1B1F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9200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42" name="Tijdelijke aanduiding voor tekst 4">
            <a:extLst>
              <a:ext uri="{FF2B5EF4-FFF2-40B4-BE49-F238E27FC236}">
                <a16:creationId xmlns:a16="http://schemas.microsoft.com/office/drawing/2014/main" id="{69D66743-22F2-C84F-9FD2-F350766D6C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39200" y="3331030"/>
            <a:ext cx="2286000" cy="246653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43" name="Tijdelijke aanduiding voor tekst 4">
            <a:extLst>
              <a:ext uri="{FF2B5EF4-FFF2-40B4-BE49-F238E27FC236}">
                <a16:creationId xmlns:a16="http://schemas.microsoft.com/office/drawing/2014/main" id="{4A38EF55-8739-4A40-A228-67296EA938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4144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44" name="Tijdelijke aanduiding voor tekst 4">
            <a:extLst>
              <a:ext uri="{FF2B5EF4-FFF2-40B4-BE49-F238E27FC236}">
                <a16:creationId xmlns:a16="http://schemas.microsoft.com/office/drawing/2014/main" id="{268DC74C-B0F9-2649-BEC3-BBA0BD7376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57921" y="3331029"/>
            <a:ext cx="2286000" cy="2466537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7B1422B-E6C5-43B2-9F2B-DECEB381214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8377" y="3331029"/>
            <a:ext cx="2286000" cy="246697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BC81DA9-1713-43A7-A2CF-A9525B11AF43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 rtlCol="0"/>
          <a:lstStyle/>
          <a:p>
            <a:pPr rtl="0"/>
            <a:r>
              <a:rPr lang="nl-NL" noProof="0"/>
              <a:t>3 september 20XX 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A76A8F0-5D79-4C8A-9966-308409EB26B0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 rtlCol="0"/>
          <a:lstStyle/>
          <a:p>
            <a:pPr rtl="0"/>
            <a:r>
              <a:rPr lang="nl-NL" noProof="0">
                <a:solidFill>
                  <a:schemeClr val="bg1"/>
                </a:solidFill>
              </a:rPr>
              <a:t>Jaarverslag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F85BAE5-43DA-49F0-89E6-66D549C5238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19925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14" pos="148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inhoud 3">
            <a:extLst>
              <a:ext uri="{FF2B5EF4-FFF2-40B4-BE49-F238E27FC236}">
                <a16:creationId xmlns:a16="http://schemas.microsoft.com/office/drawing/2014/main" id="{91C010F4-E1E5-354F-9B4A-6253D3DC2F9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036641" y="3044590"/>
            <a:ext cx="4868860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17" name="Tijdelijke aanduiding voor inhoud 3">
            <a:extLst>
              <a:ext uri="{FF2B5EF4-FFF2-40B4-BE49-F238E27FC236}">
                <a16:creationId xmlns:a16="http://schemas.microsoft.com/office/drawing/2014/main" id="{C2F7C8C0-EB32-3C44-930E-DE05403C543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285649" y="3044590"/>
            <a:ext cx="4868860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E06473F2-000A-7C44-9048-A0C0D4B652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nl-NL" noProof="0"/>
              <a:t>Klik om te bewerken</a:t>
            </a:r>
          </a:p>
        </p:txBody>
      </p: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B6A0597E-7AE3-F242-9DDF-F678A5E11458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ijdelijke aanduiding voor tekst 4">
            <a:extLst>
              <a:ext uri="{FF2B5EF4-FFF2-40B4-BE49-F238E27FC236}">
                <a16:creationId xmlns:a16="http://schemas.microsoft.com/office/drawing/2014/main" id="{EAB7162A-656B-3447-976F-951853C325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616" y="2328554"/>
            <a:ext cx="4963884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4" name="Tijdelijke aanduiding voor tekst 4">
            <a:extLst>
              <a:ext uri="{FF2B5EF4-FFF2-40B4-BE49-F238E27FC236}">
                <a16:creationId xmlns:a16="http://schemas.microsoft.com/office/drawing/2014/main" id="{C8B98E47-9A5A-E54C-A093-86D516AAD0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8199" y="2328554"/>
            <a:ext cx="4868860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8E274C5-9C2D-4A46-AEAE-9DBE1C41747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 rtlCol="0"/>
          <a:lstStyle/>
          <a:p>
            <a:pPr rtl="0"/>
            <a:r>
              <a:rPr lang="nl-NL" noProof="0"/>
              <a:t>3 september 20XX 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9419017-8DD9-4B28-B0F1-E82FFB8C1D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 rtlCol="0"/>
          <a:lstStyle/>
          <a:p>
            <a:pPr rtl="0"/>
            <a:r>
              <a:rPr lang="nl-NL" noProof="0">
                <a:solidFill>
                  <a:schemeClr val="bg1"/>
                </a:solidFill>
              </a:rPr>
              <a:t>Jaarverslag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A0BFF08-A844-4449-9EC2-5B6B6C2D62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07367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inhoud 3">
            <a:extLst>
              <a:ext uri="{FF2B5EF4-FFF2-40B4-BE49-F238E27FC236}">
                <a16:creationId xmlns:a16="http://schemas.microsoft.com/office/drawing/2014/main" id="{2476683E-62F2-7746-A136-3A729C70D88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036641" y="3052691"/>
            <a:ext cx="3078159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17" name="Tijdelijke aanduiding voor inhoud 3">
            <a:extLst>
              <a:ext uri="{FF2B5EF4-FFF2-40B4-BE49-F238E27FC236}">
                <a16:creationId xmlns:a16="http://schemas.microsoft.com/office/drawing/2014/main" id="{5EF5BDE3-656A-414E-BE18-702CA738A9D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39099" y="3044590"/>
            <a:ext cx="3115409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0EAADDF0-090D-2C4F-BE2D-160C2C55029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39760" y="3044590"/>
            <a:ext cx="3115409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3E0EAFBC-DE77-7648-95EC-91DDA529FA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nl-NL" noProof="0"/>
              <a:t>Klik om te bewerken</a:t>
            </a:r>
          </a:p>
        </p:txBody>
      </p: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E2A16A97-402E-8040-9B48-1B6ED23ABC4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ijdelijke aanduiding voor tekst 4">
            <a:extLst>
              <a:ext uri="{FF2B5EF4-FFF2-40B4-BE49-F238E27FC236}">
                <a16:creationId xmlns:a16="http://schemas.microsoft.com/office/drawing/2014/main" id="{B4BD319C-69C3-3D46-977C-F80FD35E3C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616" y="2328554"/>
            <a:ext cx="3173184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>
                <a:latin typeface="+mj-lt"/>
              </a:defRPr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7" name="Tijdelijke aanduiding voor tekst 4">
            <a:extLst>
              <a:ext uri="{FF2B5EF4-FFF2-40B4-BE49-F238E27FC236}">
                <a16:creationId xmlns:a16="http://schemas.microsoft.com/office/drawing/2014/main" id="{4F6FB95E-AD0D-3843-8241-AB907F5915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252" y="2328554"/>
            <a:ext cx="3115409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>
                <a:latin typeface="+mj-lt"/>
              </a:defRPr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28" name="Tijdelijke aanduiding voor tekst 4">
            <a:extLst>
              <a:ext uri="{FF2B5EF4-FFF2-40B4-BE49-F238E27FC236}">
                <a16:creationId xmlns:a16="http://schemas.microsoft.com/office/drawing/2014/main" id="{CC85BB87-C622-304F-9F58-8716188AA5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33114" y="2328554"/>
            <a:ext cx="3115409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>
                <a:latin typeface="+mj-lt"/>
              </a:defRPr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9C6B0B5-56D6-429D-BC3A-5E501EDADA8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nl-NL" noProof="0"/>
              <a:t>3 september 20XX 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A88DFE9-DB89-4EB9-9FB1-D484EC0C1B5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nl-NL" noProof="0">
                <a:solidFill>
                  <a:schemeClr val="bg1"/>
                </a:solidFill>
              </a:rPr>
              <a:t>Jaarverslag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50C09F4-4087-4A1E-B8B8-85A748DC901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03898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8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envatt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>
            <a:extLst>
              <a:ext uri="{FF2B5EF4-FFF2-40B4-BE49-F238E27FC236}">
                <a16:creationId xmlns:a16="http://schemas.microsoft.com/office/drawing/2014/main" id="{5D6FA74B-53F8-584F-85D3-47FB14D40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nl-NL" noProof="0"/>
              <a:t>Klik om te bewerken</a:t>
            </a:r>
          </a:p>
        </p:txBody>
      </p: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DC152369-C198-1E48-8F65-F6AC0534DFF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C8921E4-02B0-3748-9844-933F710058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2321923"/>
            <a:ext cx="4876800" cy="3825952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/>
            </a:lvl1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16" name="Tijdelijke aanduiding voor tekst 2">
            <a:extLst>
              <a:ext uri="{FF2B5EF4-FFF2-40B4-BE49-F238E27FC236}">
                <a16:creationId xmlns:a16="http://schemas.microsoft.com/office/drawing/2014/main" id="{43048678-0BD6-C448-8690-BD61FC6095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8400" y="2286000"/>
            <a:ext cx="4876800" cy="2746375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/>
            </a:lvl1pPr>
          </a:lstStyle>
          <a:p>
            <a:pPr lvl="0" rtl="0"/>
            <a:r>
              <a:rPr lang="nl-NL" noProof="0"/>
              <a:t>Klikken om te bewerken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AC8134C-ADB9-4E1C-97DD-12E5DE2C77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nl-NL" noProof="0"/>
              <a:t>3 september 20XX 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7A0C24D-14BB-46C9-A4C2-DB15E4FB9B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nl-NL" noProof="0">
                <a:solidFill>
                  <a:schemeClr val="bg1"/>
                </a:solidFill>
              </a:rPr>
              <a:t>Jaarverslag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033D085-5F13-41E2-9C46-08E3E2846C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33388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dank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7107" y="999068"/>
            <a:ext cx="48768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nl-NL" noProof="0"/>
              <a:t>Klik om te bewerken</a:t>
            </a:r>
          </a:p>
        </p:txBody>
      </p:sp>
      <p:sp>
        <p:nvSpPr>
          <p:cNvPr id="25" name="Tijdelijke aanduiding voor inhoud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57107" y="2286003"/>
            <a:ext cx="4876800" cy="2332729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6261560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90600"/>
            <a:ext cx="4837176" cy="4837176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nl-NL" noProof="0"/>
              <a:t>Klik op het pictogram als u een afbeelding wilt toevoegen</a:t>
            </a:r>
          </a:p>
        </p:txBody>
      </p:sp>
      <p:sp>
        <p:nvSpPr>
          <p:cNvPr id="9" name="Tijdelijke aanduiding voor inhoud 13">
            <a:extLst>
              <a:ext uri="{FF2B5EF4-FFF2-40B4-BE49-F238E27FC236}">
                <a16:creationId xmlns:a16="http://schemas.microsoft.com/office/drawing/2014/main" id="{8B57D363-927D-CE43-AD8A-2F5E6CC59E9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257107" y="4659581"/>
            <a:ext cx="4876800" cy="543031"/>
          </a:xfrm>
          <a:prstGeom prst="rect">
            <a:avLst/>
          </a:prstGeom>
        </p:spPr>
        <p:txBody>
          <a:bodyPr lIns="0" tIns="0" rIns="0" bIns="0" rtlCol="0" anchor="t"/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 rtl="0"/>
            <a:r>
              <a:rPr lang="nl-NL" noProof="0"/>
              <a:t>Klik om te bewerken</a:t>
            </a:r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DB2FDBC3-20E9-45B6-850D-2F34EA22D1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 rtlCol="0"/>
          <a:lstStyle/>
          <a:p>
            <a:pPr rtl="0"/>
            <a:r>
              <a:rPr lang="nl-NL" noProof="0"/>
              <a:t>3 september 20XX 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BC17A152-7FD0-42FA-9937-8667D4B751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nl-NL" noProof="0">
                <a:solidFill>
                  <a:schemeClr val="bg1"/>
                </a:solidFill>
              </a:rPr>
              <a:t>Jaarverslag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B687AABD-BCAB-4325-8510-954CAAD92A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21854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879F22C8-3EAB-425F-ADBA-3A162D820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30818" y="6292334"/>
            <a:ext cx="1522982" cy="18288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pPr rtl="0"/>
            <a:r>
              <a:rPr lang="nl-NL" noProof="0"/>
              <a:t>3 september 20XX </a:t>
            </a:r>
          </a:p>
        </p:txBody>
      </p:sp>
      <p:sp>
        <p:nvSpPr>
          <p:cNvPr id="3" name="Tijdelijke aanduiding voor voettekst 4">
            <a:extLst>
              <a:ext uri="{FF2B5EF4-FFF2-40B4-BE49-F238E27FC236}">
                <a16:creationId xmlns:a16="http://schemas.microsoft.com/office/drawing/2014/main" id="{CC4B4F87-0B31-4EDA-8270-4233B0D8F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98180" y="6294120"/>
            <a:ext cx="1462788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nl-NL" noProof="0">
                <a:solidFill>
                  <a:schemeClr val="bg1"/>
                </a:solidFill>
              </a:rPr>
              <a:t>Jaarverslag</a:t>
            </a:r>
          </a:p>
        </p:txBody>
      </p:sp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A05EC255-976A-48BF-A8A0-1ECEBDFB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3500" y="6292334"/>
            <a:ext cx="41275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7782931A-7D25-4B4B-9464-57AE418934A3}" type="slidenum">
              <a:rPr lang="nl-NL" noProof="0" smtClean="0"/>
              <a:pPr rtl="0"/>
              <a:t>‹nr.›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74" r:id="rId2"/>
    <p:sldLayoutId id="2147483673" r:id="rId3"/>
    <p:sldLayoutId id="2147483671" r:id="rId4"/>
    <p:sldLayoutId id="2147483678" r:id="rId5"/>
    <p:sldLayoutId id="2147483676" r:id="rId6"/>
    <p:sldLayoutId id="2147483677" r:id="rId7"/>
    <p:sldLayoutId id="2147483660" r:id="rId8"/>
    <p:sldLayoutId id="2147483675" r:id="rId9"/>
    <p:sldLayoutId id="2147483679" r:id="rId10"/>
    <p:sldLayoutId id="2147483680" r:id="rId11"/>
    <p:sldLayoutId id="2147483681" r:id="rId12"/>
    <p:sldLayoutId id="214748368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7008" userDrawn="1">
          <p15:clr>
            <a:srgbClr val="F26B43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24" userDrawn="1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orient="horz" pos="624" userDrawn="1">
          <p15:clr>
            <a:srgbClr val="F26B43"/>
          </p15:clr>
        </p15:guide>
        <p15:guide id="18" orient="horz" pos="3672" userDrawn="1">
          <p15:clr>
            <a:srgbClr val="F26B43"/>
          </p15:clr>
        </p15:guide>
        <p15:guide id="19" pos="3984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9C99CF7C-AFAB-48F1-8FC3-CCCE9898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 dirty="0"/>
              <a:t>Plan of Approach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A8ECC17-4660-124A-8996-54F15FD169C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rtlCol="0"/>
          <a:lstStyle/>
          <a:p>
            <a:pPr rtl="0"/>
            <a:r>
              <a:rPr lang="en-US" b="1" noProof="0" dirty="0"/>
              <a:t>Advanced Machine Learning</a:t>
            </a:r>
            <a:r>
              <a:rPr lang="en-US" noProof="0" dirty="0"/>
              <a:t>      Jessie Drost &amp; Yvonne Nieuwdorp</a:t>
            </a:r>
          </a:p>
          <a:p>
            <a:pPr rt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0547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E966EE-4FBD-534E-AAED-6C54465E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4876800" cy="645284"/>
          </a:xfrm>
        </p:spPr>
        <p:txBody>
          <a:bodyPr rtlCol="0" anchor="b">
            <a:normAutofit/>
          </a:bodyPr>
          <a:lstStyle/>
          <a:p>
            <a:r>
              <a:rPr lang="en-US"/>
              <a:t>Project Definition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EC737E2-1EBF-6244-8E0A-274D170CC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700" y="2286003"/>
            <a:ext cx="4876800" cy="3568696"/>
          </a:xfrm>
        </p:spPr>
        <p:txBody>
          <a:bodyPr rtlCol="0">
            <a:normAutofit/>
          </a:bodyPr>
          <a:lstStyle/>
          <a:p>
            <a:pPr rtl="0"/>
            <a:r>
              <a:rPr lang="en-US" b="1" noProof="0" dirty="0"/>
              <a:t>Can song lyrics predict music genre?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Legal lyrics data via Kaggle Genius dataset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5 genres: Pop, Rock, Hip-hop, Country, Jazz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Measure model accuracy with F1-score &amp; precision</a:t>
            </a:r>
            <a:endParaRPr lang="en-US" dirty="0"/>
          </a:p>
          <a:p>
            <a:pPr rtl="0"/>
            <a:endParaRPr lang="en-US" b="1" noProof="0" dirty="0"/>
          </a:p>
          <a:p>
            <a:pPr rtl="0"/>
            <a:endParaRPr lang="en-US" noProof="0" dirty="0"/>
          </a:p>
        </p:txBody>
      </p:sp>
      <p:pic>
        <p:nvPicPr>
          <p:cNvPr id="1026" name="Picture 2" descr="Genius Icon &amp; Logo | Dashboard Icons &amp; Logos">
            <a:extLst>
              <a:ext uri="{FF2B5EF4-FFF2-40B4-BE49-F238E27FC236}">
                <a16:creationId xmlns:a16="http://schemas.microsoft.com/office/drawing/2014/main" id="{40E199B2-DF7E-E9E0-7281-9A5BA030C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824" y="990600"/>
            <a:ext cx="4837176" cy="4837176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DE5F9E-39DA-49B7-8AA0-FF8E2B15DE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 rtlCol="0" anchor="ctr">
            <a:no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7782931A-7D25-4B4B-9464-57AE418934A3}" type="slidenum">
              <a:rPr lang="en-US" noProof="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1783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291B00-2D81-3048-8AFF-1F5A3E8AA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</p:spPr>
        <p:txBody>
          <a:bodyPr rtlCol="0"/>
          <a:lstStyle/>
          <a:p>
            <a:r>
              <a:rPr lang="en-US" dirty="0">
                <a:ea typeface="Calibri" pitchFamily="34" charset="-122"/>
                <a:cs typeface="Calibri" pitchFamily="34" charset="-120"/>
              </a:rPr>
              <a:t>Data &amp; Technical Approach</a:t>
            </a:r>
            <a:endParaRPr lang="en-US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DA9E950-ECF8-DB4D-B92A-ADA2E6031E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5" y="2328553"/>
            <a:ext cx="4891767" cy="911029"/>
          </a:xfrm>
        </p:spPr>
        <p:txBody>
          <a:bodyPr rtlCol="0"/>
          <a:lstStyle/>
          <a:p>
            <a:pPr rtl="0"/>
            <a:r>
              <a:rPr lang="en-US" noProof="0" dirty="0"/>
              <a:t>Dataset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7C4F8DA7-E886-004E-BF5C-57F758638C4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8376" y="2888629"/>
            <a:ext cx="4891767" cy="2909375"/>
          </a:xfrm>
        </p:spPr>
        <p:txBody>
          <a:bodyPr rtlCol="0"/>
          <a:lstStyle/>
          <a:p>
            <a:r>
              <a:rPr lang="en-US" b="1" dirty="0">
                <a:ea typeface="Calibri" pitchFamily="34" charset="-122"/>
                <a:cs typeface="Calibri" pitchFamily="34" charset="-120"/>
              </a:rPr>
              <a:t>Kaggle Genius Song Lyrics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 pitchFamily="34" charset="-122"/>
                <a:cs typeface="Calibri" pitchFamily="34" charset="-120"/>
              </a:rPr>
              <a:t>Free &amp; legally available
Pre-labelled genre tags
Full lyrics included
Language detection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ea typeface="Calibri" pitchFamily="34" charset="-122"/>
              <a:cs typeface="Calibri" pitchFamily="34" charset="-120"/>
            </a:endParaRPr>
          </a:p>
          <a:p>
            <a:r>
              <a:rPr lang="en-US" i="1" dirty="0">
                <a:ea typeface="Calibri" pitchFamily="34" charset="-122"/>
                <a:cs typeface="Calibri" pitchFamily="34" charset="-120"/>
              </a:rPr>
              <a:t>Filter to 5 genres, English only, remove '</a:t>
            </a:r>
            <a:r>
              <a:rPr lang="en-US" i="1" dirty="0" err="1">
                <a:ea typeface="Calibri" pitchFamily="34" charset="-122"/>
                <a:cs typeface="Calibri" pitchFamily="34" charset="-120"/>
              </a:rPr>
              <a:t>misc</a:t>
            </a:r>
            <a:r>
              <a:rPr lang="en-US" i="1" dirty="0">
                <a:ea typeface="Calibri" pitchFamily="34" charset="-122"/>
                <a:cs typeface="Calibri" pitchFamily="34" charset="-120"/>
              </a:rPr>
              <a:t>' entries</a:t>
            </a:r>
            <a:endParaRPr lang="en-US" i="1" dirty="0"/>
          </a:p>
          <a:p>
            <a:pPr rtl="0"/>
            <a:endParaRPr lang="en-US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193897E-AAA2-CB47-95FF-056B8E141B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672" y="2328553"/>
            <a:ext cx="4891766" cy="911029"/>
          </a:xfrm>
        </p:spPr>
        <p:txBody>
          <a:bodyPr rtlCol="0"/>
          <a:lstStyle/>
          <a:p>
            <a:pPr rtl="0"/>
            <a:r>
              <a:rPr lang="en-US" noProof="0" dirty="0"/>
              <a:t>Models and Pipeline </a:t>
            </a:r>
          </a:p>
          <a:p>
            <a:pPr rtl="0"/>
            <a:endParaRPr lang="en-US" noProof="0" dirty="0"/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BFEDAFE0-0841-4C49-9745-2C88B5FE85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6672" y="2889504"/>
            <a:ext cx="4891766" cy="2937699"/>
          </a:xfrm>
        </p:spPr>
        <p:txBody>
          <a:bodyPr rtlCol="0"/>
          <a:lstStyle/>
          <a:p>
            <a:pPr rtl="0"/>
            <a:r>
              <a:rPr lang="en-US" b="1" dirty="0"/>
              <a:t>1. Preprocess</a:t>
            </a:r>
          </a:p>
          <a:p>
            <a:r>
              <a:rPr lang="en-US" dirty="0">
                <a:ea typeface="Calibri" pitchFamily="34" charset="-122"/>
                <a:cs typeface="Calibri" pitchFamily="34" charset="-120"/>
              </a:rPr>
              <a:t>Remove </a:t>
            </a:r>
            <a:r>
              <a:rPr lang="en-US" dirty="0" err="1">
                <a:ea typeface="Calibri" pitchFamily="34" charset="-122"/>
                <a:cs typeface="Calibri" pitchFamily="34" charset="-120"/>
              </a:rPr>
              <a:t>stopwords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, punctuation, </a:t>
            </a:r>
            <a:r>
              <a:rPr lang="en-US" dirty="0" err="1">
                <a:ea typeface="Calibri" pitchFamily="34" charset="-122"/>
                <a:cs typeface="Calibri" pitchFamily="34" charset="-120"/>
              </a:rPr>
              <a:t>vectorisation</a:t>
            </a:r>
            <a:endParaRPr lang="en-US" dirty="0"/>
          </a:p>
          <a:p>
            <a:pPr rtl="0"/>
            <a:endParaRPr lang="en-US" b="1" noProof="0" dirty="0"/>
          </a:p>
          <a:p>
            <a:pPr rtl="0"/>
            <a:r>
              <a:rPr lang="en-US" b="1" dirty="0"/>
              <a:t>2. Train &amp; Compare</a:t>
            </a:r>
          </a:p>
          <a:p>
            <a:r>
              <a:rPr lang="en-US" dirty="0">
                <a:ea typeface="Calibri" pitchFamily="34" charset="-122"/>
                <a:cs typeface="Calibri" pitchFamily="34" charset="-120"/>
              </a:rPr>
              <a:t>Naive Bayes, Logistic Regression, Random Forest</a:t>
            </a:r>
            <a:endParaRPr lang="en-US" b="1" dirty="0"/>
          </a:p>
          <a:p>
            <a:pPr rtl="0"/>
            <a:endParaRPr lang="en-US" b="1" dirty="0"/>
          </a:p>
          <a:p>
            <a:pPr rtl="0"/>
            <a:r>
              <a:rPr lang="en-US" b="1" dirty="0"/>
              <a:t>3. Evaluate</a:t>
            </a:r>
          </a:p>
          <a:p>
            <a:r>
              <a:rPr lang="en-US" dirty="0">
                <a:ea typeface="Calibri" pitchFamily="34" charset="-122"/>
                <a:cs typeface="Calibri" pitchFamily="34" charset="-120"/>
              </a:rPr>
              <a:t>Accuracy, Precision, Recall, F1-score</a:t>
            </a:r>
            <a:endParaRPr lang="en-US" dirty="0"/>
          </a:p>
          <a:p>
            <a:pPr rtl="0"/>
            <a:endParaRPr lang="en-US" b="1" noProof="0" dirty="0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449A274E-39AC-4802-84BB-E5ABF0747E7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493500" y="6292334"/>
            <a:ext cx="412750" cy="182880"/>
          </a:xfrm>
        </p:spPr>
        <p:txBody>
          <a:bodyPr rtlCol="0"/>
          <a:lstStyle/>
          <a:p>
            <a:pPr rtl="0"/>
            <a:fld id="{7782931A-7D25-4B4B-9464-57AE418934A3}" type="slidenum">
              <a:rPr lang="en-US" noProof="0" smtClean="0"/>
              <a:pPr rtl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81825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B4391A8-86CF-7246-9C31-CC667004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 dirty="0"/>
              <a:t>Planning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D82835A-A332-4647-B267-D78B14BFA4A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493500" y="6292334"/>
            <a:ext cx="412750" cy="182880"/>
          </a:xfrm>
        </p:spPr>
        <p:txBody>
          <a:bodyPr rtlCol="0"/>
          <a:lstStyle/>
          <a:p>
            <a:pPr rtl="0"/>
            <a:fld id="{7782931A-7D25-4B4B-9464-57AE418934A3}" type="slidenum">
              <a:rPr lang="en-US" noProof="0" smtClean="0"/>
              <a:pPr rtl="0"/>
              <a:t>4</a:t>
            </a:fld>
            <a:endParaRPr lang="en-US" noProof="0" dirty="0"/>
          </a:p>
        </p:txBody>
      </p:sp>
      <p:sp>
        <p:nvSpPr>
          <p:cNvPr id="37" name="Tijdelijke aanduiding voor tekst 1">
            <a:extLst>
              <a:ext uri="{FF2B5EF4-FFF2-40B4-BE49-F238E27FC236}">
                <a16:creationId xmlns:a16="http://schemas.microsoft.com/office/drawing/2014/main" id="{4EAE782F-EDC5-5AE9-DBF5-9BB359682226}"/>
              </a:ext>
            </a:extLst>
          </p:cNvPr>
          <p:cNvSpPr txBox="1">
            <a:spLocks/>
          </p:cNvSpPr>
          <p:nvPr/>
        </p:nvSpPr>
        <p:spPr>
          <a:xfrm>
            <a:off x="1028700" y="2304344"/>
            <a:ext cx="7810500" cy="2989263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Week 1 </a:t>
            </a:r>
            <a:r>
              <a:rPr lang="en-US" sz="2400" dirty="0"/>
              <a:t>– Plan of Approach</a:t>
            </a:r>
          </a:p>
          <a:p>
            <a:pPr marL="0" indent="0">
              <a:buNone/>
            </a:pPr>
            <a:r>
              <a:rPr lang="en-US" sz="2400" b="1" dirty="0"/>
              <a:t>Week 2 </a:t>
            </a:r>
            <a:r>
              <a:rPr lang="en-US" sz="2400" dirty="0"/>
              <a:t>– </a:t>
            </a:r>
            <a:r>
              <a:rPr lang="en-US" sz="2400" dirty="0">
                <a:ea typeface="Calibri" pitchFamily="34" charset="-122"/>
                <a:cs typeface="Calibri" pitchFamily="34" charset="-120"/>
              </a:rPr>
              <a:t>Data Acquisition &amp; Preprocessing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Week 3 </a:t>
            </a:r>
            <a:r>
              <a:rPr lang="en-US" sz="2400" dirty="0"/>
              <a:t>– Model Training</a:t>
            </a:r>
          </a:p>
          <a:p>
            <a:pPr marL="0" indent="0">
              <a:buNone/>
            </a:pPr>
            <a:r>
              <a:rPr lang="en-US" sz="2400" b="1" dirty="0"/>
              <a:t>Week 4 </a:t>
            </a:r>
            <a:r>
              <a:rPr lang="en-US" sz="2400" dirty="0"/>
              <a:t>– Testing</a:t>
            </a:r>
          </a:p>
          <a:p>
            <a:pPr marL="0" indent="0">
              <a:buNone/>
            </a:pPr>
            <a:r>
              <a:rPr lang="en-US" sz="2400" b="1" dirty="0"/>
              <a:t>Week 5 </a:t>
            </a:r>
            <a:r>
              <a:rPr lang="en-US" sz="2400" dirty="0"/>
              <a:t>– Validation and Iteration</a:t>
            </a:r>
          </a:p>
          <a:p>
            <a:pPr marL="0" indent="0">
              <a:buNone/>
            </a:pPr>
            <a:r>
              <a:rPr lang="en-US" sz="2400" b="1" dirty="0"/>
              <a:t>Week 6 </a:t>
            </a:r>
            <a:r>
              <a:rPr lang="en-US" sz="2400" dirty="0"/>
              <a:t>– Analysis, Reporting and Delivery</a:t>
            </a:r>
          </a:p>
        </p:txBody>
      </p:sp>
    </p:spTree>
    <p:extLst>
      <p:ext uri="{BB962C8B-B14F-4D97-AF65-F5344CB8AC3E}">
        <p14:creationId xmlns:p14="http://schemas.microsoft.com/office/powerpoint/2010/main" val="235143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84A840E-9000-7441-BEB7-FFEE48A4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 dirty="0"/>
              <a:t>Summary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EA07C02-54FF-4B71-8E0D-7F4BCFC6A69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93500" y="6292334"/>
            <a:ext cx="412750" cy="182880"/>
          </a:xfrm>
        </p:spPr>
        <p:txBody>
          <a:bodyPr rtlCol="0"/>
          <a:lstStyle/>
          <a:p>
            <a:pPr rtl="0"/>
            <a:fld id="{7782931A-7D25-4B4B-9464-57AE418934A3}" type="slidenum">
              <a:rPr lang="en-US" noProof="0" smtClean="0"/>
              <a:pPr rtl="0"/>
              <a:t>5</a:t>
            </a:fld>
            <a:endParaRPr lang="en-US" noProof="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FF388D5-1166-BEE1-ADCE-292EDF14994F}"/>
              </a:ext>
            </a:extLst>
          </p:cNvPr>
          <p:cNvSpPr/>
          <p:nvPr/>
        </p:nvSpPr>
        <p:spPr>
          <a:xfrm>
            <a:off x="1028700" y="2334968"/>
            <a:ext cx="7287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Python-based lyrics genre classifier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3F3FB54-ACBB-A630-79D1-8B336159407F}"/>
              </a:ext>
            </a:extLst>
          </p:cNvPr>
          <p:cNvSpPr/>
          <p:nvPr/>
        </p:nvSpPr>
        <p:spPr>
          <a:xfrm>
            <a:off x="1028700" y="2865320"/>
            <a:ext cx="7287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5 genres, Kaggle Genius dataset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47B37C1-5DB9-BFB6-51EB-16BBB28D8B91}"/>
              </a:ext>
            </a:extLst>
          </p:cNvPr>
          <p:cNvSpPr/>
          <p:nvPr/>
        </p:nvSpPr>
        <p:spPr>
          <a:xfrm>
            <a:off x="1028700" y="3395672"/>
            <a:ext cx="7287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3 models: Naive Bayes, Logistic Regression, Random Forest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2EB487F-75FB-9A61-F2C4-D11CCAFCE7C8}"/>
              </a:ext>
            </a:extLst>
          </p:cNvPr>
          <p:cNvSpPr/>
          <p:nvPr/>
        </p:nvSpPr>
        <p:spPr>
          <a:xfrm>
            <a:off x="1028700" y="3926024"/>
            <a:ext cx="7287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6-week planning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18457"/>
      </p:ext>
    </p:extLst>
  </p:cSld>
  <p:clrMapOvr>
    <a:masterClrMapping/>
  </p:clrMapOvr>
</p:sld>
</file>

<file path=ppt/theme/theme1.xml><?xml version="1.0" encoding="utf-8"?>
<a:theme xmlns:a="http://schemas.openxmlformats.org/drawingml/2006/main" name="Th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35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331_TF89547415_Win32" id="{BA4F7A8B-7948-407C-9607-A0C1622859C3}" vid="{4DA48893-FE50-4794-9CB4-987CB28AFFE8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4273A0-A4DF-47AA-BF1F-8758123399C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FD975AF8-B1C6-436B-A274-2C3ADC779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2F651C-E5DA-470F-A6A6-D70E9A5EBF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Indruk maken met de jaarlijkse presentatie</Template>
  <TotalTime>42</TotalTime>
  <Words>188</Words>
  <Application>Microsoft Office PowerPoint</Application>
  <PresentationFormat>Breedbeeld</PresentationFormat>
  <Paragraphs>43</Paragraphs>
  <Slides>5</Slides>
  <Notes>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10" baseType="lpstr">
      <vt:lpstr>Arial</vt:lpstr>
      <vt:lpstr>Arial Nova</vt:lpstr>
      <vt:lpstr>Calibri</vt:lpstr>
      <vt:lpstr>Wingdings</vt:lpstr>
      <vt:lpstr>Thema1</vt:lpstr>
      <vt:lpstr>Plan of Approach</vt:lpstr>
      <vt:lpstr>Project Definition</vt:lpstr>
      <vt:lpstr>Data &amp; Technical Approach</vt:lpstr>
      <vt:lpstr>Planning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Drost,Jessie J.</dc:creator>
  <cp:lastModifiedBy>Drost,Jessie J.</cp:lastModifiedBy>
  <cp:revision>1</cp:revision>
  <dcterms:created xsi:type="dcterms:W3CDTF">2026-05-10T14:31:04Z</dcterms:created>
  <dcterms:modified xsi:type="dcterms:W3CDTF">2026-05-10T15:13:36Z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